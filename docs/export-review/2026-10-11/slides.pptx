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GV mở đầu bằng giọng truyền cảm, chiếu hình ảnh người lính và bản đồ Tây Bắc để gợi không khí sử thi.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sinh ngâm thơ hoặc đọc diễn cảm 4 câu đầu; chú ý ngừng nghỉ sau dấu chấm than cảm thán.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nghệ thuật đối lập giữa câu thơ nhiều trắc và câu thơ toàn thanh bằng để tạo nhịp thở cho bài thơ.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từ "bi tráng": BI là mất mát đau thương, TRÁNG là hào hùng tráng lệ; bi mà không lụy.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Dùng sơ đồ để học sinh thấy được quy luật vận động nội tâm của thi nhân Quang Dũng.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sinh 60 giây suy ngẫm và giơ tay chọn đáp án A, B, C, D trước khi giải thích.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2 phút dặn dò, giao bài tập về nhà và tuyên dương tinh thần học tập tích cực của cả lớp.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413"/>
        </a:solidFill>
      </p:bgPr>
    </p:bg>
    <p:spTree>
      <p:nvGrpSpPr>
        <p:cNvPr id="1" name=""/>
        <p:cNvGrpSpPr/>
        <p:nvPr/>
      </p:nvGrpSpPr>
      <p:grpSpPr>
        <a:xfrm>
          <a:off x="0" y="0"/>
          <a:ext cx="0" cy="0"/>
          <a:chOff x="0" y="0"/>
          <a:chExt cx="0" cy="0"/>
        </a:xfrm>
      </p:grpSpPr>
      <p:sp>
        <p:nvSpPr>
          <p:cNvPr id="2" name="Text 0"/>
          <p:cNvSpPr/>
          <p:nvPr/>
        </p:nvSpPr>
        <p:spPr>
          <a:xfrm>
            <a:off x="731520" y="365760"/>
            <a:ext cx="914400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KHỞI ĐỘNG</a:t>
            </a:r>
            <a:pPr indent="0" marL="0">
              <a:buNone/>
            </a:pPr>
            <a:r>
              <a:rPr lang="en-US" sz="1000" dirty="0">
                <a:solidFill>
                  <a:srgbClr val="A8A29E"/>
                </a:solidFill>
                <a:latin typeface="Arial" pitchFamily="34" charset="0"/>
                <a:ea typeface="Arial" pitchFamily="34" charset="-122"/>
                <a:cs typeface="Arial" pitchFamily="34" charset="-120"/>
              </a:rPr>
              <a:t>  |  Slide 1/7</a:t>
            </a:r>
            <a:endParaRPr lang="en-US" sz="1000" dirty="0"/>
          </a:p>
        </p:txBody>
      </p:sp>
      <p:sp>
        <p:nvSpPr>
          <p:cNvPr id="3" name="Text 1"/>
          <p:cNvSpPr/>
          <p:nvPr/>
        </p:nvSpPr>
        <p:spPr>
          <a:xfrm>
            <a:off x="731520" y="731520"/>
            <a:ext cx="10698480" cy="822960"/>
          </a:xfrm>
          <a:prstGeom prst="rect">
            <a:avLst/>
          </a:prstGeom>
          <a:noFill/>
          <a:ln/>
        </p:spPr>
        <p:txBody>
          <a:bodyPr wrap="square" rtlCol="0" anchor="ctr"/>
          <a:lstStyle/>
          <a:p>
            <a:pPr algn="l" indent="0" marL="0">
              <a:buNone/>
            </a:pPr>
            <a:r>
              <a:rPr lang="en-US" sz="2400" b="1" dirty="0">
                <a:solidFill>
                  <a:srgbClr val="FAF8F5"/>
                </a:solidFill>
                <a:latin typeface="Georgia" pitchFamily="34" charset="0"/>
                <a:ea typeface="Georgia" pitchFamily="34" charset="-122"/>
                <a:cs typeface="Georgia" pitchFamily="34" charset="-120"/>
              </a:rPr>
              <a:t>TÂY TIẾN - QUANG DŨNG</a:t>
            </a:r>
            <a:endParaRPr lang="en-US" sz="2400" dirty="0"/>
          </a:p>
        </p:txBody>
      </p:sp>
      <p:sp>
        <p:nvSpPr>
          <p:cNvPr id="4" name="Shape 2"/>
          <p:cNvSpPr/>
          <p:nvPr/>
        </p:nvSpPr>
        <p:spPr>
          <a:xfrm>
            <a:off x="1097280" y="1737360"/>
            <a:ext cx="9966960" cy="3931920"/>
          </a:xfrm>
          <a:prstGeom prst="roundRect">
            <a:avLst>
              <a:gd name="adj" fmla="val 4651"/>
            </a:avLst>
          </a:prstGeom>
          <a:solidFill>
            <a:srgbClr val="272221"/>
          </a:solidFill>
          <a:ln w="12700">
            <a:solidFill>
              <a:srgbClr val="44403C"/>
            </a:solidFill>
            <a:prstDash val="solid"/>
          </a:ln>
        </p:spPr>
      </p:sp>
      <p:sp>
        <p:nvSpPr>
          <p:cNvPr id="5" name="Text 3"/>
          <p:cNvSpPr/>
          <p:nvPr/>
        </p:nvSpPr>
        <p:spPr>
          <a:xfrm>
            <a:off x="1463040" y="2011680"/>
            <a:ext cx="9235440" cy="1280160"/>
          </a:xfrm>
          <a:prstGeom prst="rect">
            <a:avLst/>
          </a:prstGeom>
          <a:noFill/>
          <a:ln/>
        </p:spPr>
        <p:txBody>
          <a:bodyPr wrap="square" rtlCol="0" anchor="ctr"/>
          <a:lstStyle/>
          <a:p>
            <a:pPr algn="l" indent="0" marL="0">
              <a:buNone/>
            </a:pPr>
            <a:r>
              <a:rPr lang="en-US" sz="1700" dirty="0">
                <a:solidFill>
                  <a:srgbClr val="E7E5E4"/>
                </a:solidFill>
                <a:latin typeface="Arial" pitchFamily="34" charset="0"/>
                <a:ea typeface="Arial" pitchFamily="34" charset="-122"/>
                <a:cs typeface="Arial" pitchFamily="34" charset="-120"/>
              </a:rPr>
              <a:t>Chào mừng các em học sinh đến với tuyệt phẩm thi ca kháng chiến chống Pháp! Cùng khám phá bức tượng đài bi tráng và tâm hồn hào hoa của người lính Hà thành.</a:t>
            </a:r>
            <a:endParaRPr lang="en-US" sz="1700" dirty="0"/>
          </a:p>
        </p:txBody>
      </p:sp>
      <p:sp>
        <p:nvSpPr>
          <p:cNvPr id="6" name="Text 4"/>
          <p:cNvSpPr/>
          <p:nvPr/>
        </p:nvSpPr>
        <p:spPr>
          <a:xfrm>
            <a:off x="1463040" y="3383280"/>
            <a:ext cx="9235440" cy="2011680"/>
          </a:xfrm>
          <a:prstGeom prst="rect">
            <a:avLst/>
          </a:prstGeom>
          <a:noFill/>
          <a:ln/>
        </p:spPr>
        <p:txBody>
          <a:bodyPr wrap="square" rtlCol="0" anchor="ctr"/>
          <a:lstStyle/>
          <a:p>
            <a:pPr algn="l" marL="203200" indent="-203200">
              <a:buSzPct val="100000"/>
              <a:buChar char="•"/>
            </a:pPr>
            <a:r>
              <a:rPr lang="en-US" sz="1400" dirty="0">
                <a:solidFill>
                  <a:srgbClr val="E7E5E4"/>
                </a:solidFill>
                <a:latin typeface="Arial" pitchFamily="34" charset="0"/>
                <a:ea typeface="Arial" pitchFamily="34" charset="-122"/>
                <a:cs typeface="Arial" pitchFamily="34" charset="-120"/>
              </a:rPr>
              <a:t>Môn học: Ngữ văn 12 - Chương trình GDPT 2018</a:t>
            </a:r>
            <a:endParaRPr lang="en-US" sz="1400" dirty="0"/>
          </a:p>
          <a:p>
            <a:pPr algn="l" marL="203200" indent="-203200">
              <a:buSzPct val="100000"/>
              <a:buChar char="•"/>
            </a:pPr>
            <a:r>
              <a:rPr lang="en-US" sz="1400" dirty="0">
                <a:solidFill>
                  <a:srgbClr val="E7E5E4"/>
                </a:solidFill>
                <a:latin typeface="Arial" pitchFamily="34" charset="0"/>
                <a:ea typeface="Arial" pitchFamily="34" charset="-122"/>
                <a:cs typeface="Arial" pitchFamily="34" charset="-120"/>
              </a:rPr>
              <a:t>Tác giả: Quang Dũng - Nghệ sĩ tài hoa xứ Đoài</a:t>
            </a:r>
            <a:endParaRPr lang="en-US" sz="1400" dirty="0"/>
          </a:p>
          <a:p>
            <a:pPr algn="l" marL="203200" indent="-203200">
              <a:buSzPct val="100000"/>
              <a:buChar char="•"/>
            </a:pPr>
            <a:r>
              <a:rPr lang="en-US" sz="1400" dirty="0">
                <a:solidFill>
                  <a:srgbClr val="E7E5E4"/>
                </a:solidFill>
                <a:latin typeface="Arial" pitchFamily="34" charset="0"/>
                <a:ea typeface="Arial" pitchFamily="34" charset="-122"/>
                <a:cs typeface="Arial" pitchFamily="34" charset="-120"/>
              </a:rPr>
              <a:t>Thời lượng: 2 tiết chuyên sâu</a:t>
            </a:r>
            <a:endParaRPr lang="en-US" sz="1400" dirty="0"/>
          </a:p>
          <a:p>
            <a:pPr algn="l" marL="203200" indent="-203200">
              <a:buSzPct val="100000"/>
              <a:buChar char="•"/>
            </a:pPr>
            <a:r>
              <a:rPr lang="en-US" sz="1400" dirty="0">
                <a:solidFill>
                  <a:srgbClr val="E7E5E4"/>
                </a:solidFill>
                <a:latin typeface="Arial" pitchFamily="34" charset="0"/>
                <a:ea typeface="Arial" pitchFamily="34" charset="-122"/>
                <a:cs typeface="Arial" pitchFamily="34" charset="-120"/>
              </a:rPr>
              <a:t>Mục tiêu trọng tâm: Cảm nhận thiên nhiên Tây Bắc và chất bi tráng lãng mạn</a:t>
            </a:r>
            <a:endParaRPr lang="en-US" sz="1400" dirty="0"/>
          </a:p>
        </p:txBody>
      </p:sp>
      <p:sp>
        <p:nvSpPr>
          <p:cNvPr id="8" name="Text 5"/>
          <p:cNvSpPr/>
          <p:nvPr/>
        </p:nvSpPr>
        <p:spPr>
          <a:xfrm>
            <a:off x="731520" y="6126480"/>
            <a:ext cx="10698480" cy="365760"/>
          </a:xfrm>
          <a:prstGeom prst="rect">
            <a:avLst/>
          </a:prstGeom>
          <a:noFill/>
          <a:ln/>
        </p:spPr>
        <p:txBody>
          <a:bodyPr wrap="square" rtlCol="0" anchor="ctr"/>
          <a:lstStyle/>
          <a:p>
            <a:pPr indent="0" marL="0">
              <a:buNone/>
            </a:pPr>
            <a:r>
              <a:rPr lang="en-US" sz="1000" i="1" dirty="0">
                <a:solidFill>
                  <a:srgbClr val="A8A29E"/>
                </a:solidFill>
                <a:latin typeface="Arial" pitchFamily="34" charset="0"/>
                <a:ea typeface="Arial" pitchFamily="34" charset="-122"/>
                <a:cs typeface="Arial" pitchFamily="34" charset="-120"/>
              </a:rPr>
              <a:t>Ghi chú sư phạm: GV mở đầu bằng giọng truyền cảm, chiếu hình ảnh người lính và bản đồ Tây Bắc để gợi không khí sử thi.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71413"/>
        </a:solidFill>
      </p:bgPr>
    </p:bg>
    <p:spTree>
      <p:nvGrpSpPr>
        <p:cNvPr id="1" name=""/>
        <p:cNvGrpSpPr/>
        <p:nvPr/>
      </p:nvGrpSpPr>
      <p:grpSpPr>
        <a:xfrm>
          <a:off x="0" y="0"/>
          <a:ext cx="0" cy="0"/>
          <a:chOff x="0" y="0"/>
          <a:chExt cx="0" cy="0"/>
        </a:xfrm>
      </p:grpSpPr>
      <p:sp>
        <p:nvSpPr>
          <p:cNvPr id="2" name="Text 0"/>
          <p:cNvSpPr/>
          <p:nvPr/>
        </p:nvSpPr>
        <p:spPr>
          <a:xfrm>
            <a:off x="731520" y="365760"/>
            <a:ext cx="914400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KHỞI ĐỘNG</a:t>
            </a:r>
            <a:pPr indent="0" marL="0">
              <a:buNone/>
            </a:pPr>
            <a:r>
              <a:rPr lang="en-US" sz="1000" dirty="0">
                <a:solidFill>
                  <a:srgbClr val="A8A29E"/>
                </a:solidFill>
                <a:latin typeface="Arial" pitchFamily="34" charset="0"/>
                <a:ea typeface="Arial" pitchFamily="34" charset="-122"/>
                <a:cs typeface="Arial" pitchFamily="34" charset="-120"/>
              </a:rPr>
              <a:t>  |  Slide 2/7</a:t>
            </a:r>
            <a:endParaRPr lang="en-US" sz="1000" dirty="0"/>
          </a:p>
        </p:txBody>
      </p:sp>
      <p:sp>
        <p:nvSpPr>
          <p:cNvPr id="3" name="Text 1"/>
          <p:cNvSpPr/>
          <p:nvPr/>
        </p:nvSpPr>
        <p:spPr>
          <a:xfrm>
            <a:off x="731520" y="731520"/>
            <a:ext cx="10698480" cy="822960"/>
          </a:xfrm>
          <a:prstGeom prst="rect">
            <a:avLst/>
          </a:prstGeom>
          <a:noFill/>
          <a:ln/>
        </p:spPr>
        <p:txBody>
          <a:bodyPr wrap="square" rtlCol="0" anchor="ctr"/>
          <a:lstStyle/>
          <a:p>
            <a:pPr algn="l" indent="0" marL="0">
              <a:buNone/>
            </a:pPr>
            <a:r>
              <a:rPr lang="en-US" sz="1900" b="1" dirty="0">
                <a:solidFill>
                  <a:srgbClr val="FAF8F5"/>
                </a:solidFill>
                <a:latin typeface="Georgia" pitchFamily="34" charset="0"/>
                <a:ea typeface="Georgia" pitchFamily="34" charset="-122"/>
                <a:cs typeface="Georgia" pitchFamily="34" charset="-120"/>
              </a:rPr>
              <a:t>QUOTE ĐẶC SẮC: NỖI NHỚ CHƠI VƠI</a:t>
            </a:r>
            <a:endParaRPr lang="en-US" sz="1900" dirty="0"/>
          </a:p>
        </p:txBody>
      </p:sp>
      <p:sp>
        <p:nvSpPr>
          <p:cNvPr id="4" name="Shape 2"/>
          <p:cNvSpPr/>
          <p:nvPr/>
        </p:nvSpPr>
        <p:spPr>
          <a:xfrm>
            <a:off x="914400" y="1645920"/>
            <a:ext cx="10332720" cy="4023360"/>
          </a:xfrm>
          <a:prstGeom prst="roundRect">
            <a:avLst>
              <a:gd name="adj" fmla="val 4545"/>
            </a:avLst>
          </a:prstGeom>
          <a:solidFill>
            <a:srgbClr val="272221"/>
          </a:solidFill>
          <a:ln w="19050">
            <a:solidFill>
              <a:srgbClr val="F59E0B"/>
            </a:solidFill>
            <a:prstDash val="solid"/>
          </a:ln>
        </p:spPr>
      </p:sp>
      <p:sp>
        <p:nvSpPr>
          <p:cNvPr id="5" name="Text 3"/>
          <p:cNvSpPr/>
          <p:nvPr/>
        </p:nvSpPr>
        <p:spPr>
          <a:xfrm>
            <a:off x="1280160" y="1920240"/>
            <a:ext cx="9601200" cy="1828800"/>
          </a:xfrm>
          <a:prstGeom prst="rect">
            <a:avLst/>
          </a:prstGeom>
          <a:noFill/>
          <a:ln/>
        </p:spPr>
        <p:txBody>
          <a:bodyPr wrap="square" rtlCol="0" anchor="ctr"/>
          <a:lstStyle/>
          <a:p>
            <a:pPr algn="l" indent="0" marL="0">
              <a:buNone/>
            </a:pPr>
            <a:r>
              <a:rPr lang="en-US" sz="1800" i="1" dirty="0">
                <a:solidFill>
                  <a:srgbClr val="FEF3C7"/>
                </a:solidFill>
                <a:latin typeface="Georgia" pitchFamily="34" charset="0"/>
                <a:ea typeface="Georgia" pitchFamily="34" charset="-122"/>
                <a:cs typeface="Georgia" pitchFamily="34" charset="-120"/>
              </a:rPr>
              <a:t>“Sông Mã xa rồi Tây Tiến ơi!</a:t>
            </a:r>
            <a:endParaRPr lang="en-US" sz="1800" dirty="0"/>
          </a:p>
          <a:p>
            <a:pPr algn="l" indent="0" marL="0">
              <a:buNone/>
            </a:pPr>
            <a:r>
              <a:rPr lang="en-US" sz="1800" i="1" dirty="0">
                <a:solidFill>
                  <a:srgbClr val="FEF3C7"/>
                </a:solidFill>
                <a:latin typeface="Georgia" pitchFamily="34" charset="0"/>
                <a:ea typeface="Georgia" pitchFamily="34" charset="-122"/>
                <a:cs typeface="Georgia" pitchFamily="34" charset="-120"/>
              </a:rPr>
              <a:t>Nhớ về rừng núi, nhớ chơi vơi.</a:t>
            </a:r>
            <a:endParaRPr lang="en-US" sz="1800" dirty="0"/>
          </a:p>
          <a:p>
            <a:pPr algn="l" indent="0" marL="0">
              <a:buNone/>
            </a:pPr>
            <a:r>
              <a:rPr lang="en-US" sz="1800" i="1" dirty="0">
                <a:solidFill>
                  <a:srgbClr val="FEF3C7"/>
                </a:solidFill>
                <a:latin typeface="Georgia" pitchFamily="34" charset="0"/>
                <a:ea typeface="Georgia" pitchFamily="34" charset="-122"/>
                <a:cs typeface="Georgia" pitchFamily="34" charset="-120"/>
              </a:rPr>
              <a:t>Sài Khao sương lấp đoàn quân mỏi,</a:t>
            </a:r>
            <a:endParaRPr lang="en-US" sz="1800" dirty="0"/>
          </a:p>
          <a:p>
            <a:pPr algn="l" indent="0" marL="0">
              <a:buNone/>
            </a:pPr>
            <a:r>
              <a:rPr lang="en-US" sz="1800" i="1" dirty="0">
                <a:solidFill>
                  <a:srgbClr val="FEF3C7"/>
                </a:solidFill>
                <a:latin typeface="Georgia" pitchFamily="34" charset="0"/>
                <a:ea typeface="Georgia" pitchFamily="34" charset="-122"/>
                <a:cs typeface="Georgia" pitchFamily="34" charset="-120"/>
              </a:rPr>
              <a:t>Mường Lát hoa về trong đêm hơi.”</a:t>
            </a:r>
            <a:endParaRPr lang="en-US" sz="1800" dirty="0"/>
          </a:p>
        </p:txBody>
      </p:sp>
      <p:sp>
        <p:nvSpPr>
          <p:cNvPr id="6" name="Text 4"/>
          <p:cNvSpPr/>
          <p:nvPr/>
        </p:nvSpPr>
        <p:spPr>
          <a:xfrm>
            <a:off x="1280160" y="3840480"/>
            <a:ext cx="9601200" cy="365760"/>
          </a:xfrm>
          <a:prstGeom prst="rect">
            <a:avLst/>
          </a:prstGeom>
          <a:noFill/>
          <a:ln/>
        </p:spPr>
        <p:txBody>
          <a:bodyPr wrap="square" rtlCol="0" anchor="ctr"/>
          <a:lstStyle/>
          <a:p>
            <a:pPr algn="l" indent="0" marL="0">
              <a:buNone/>
            </a:pPr>
            <a:r>
              <a:rPr lang="en-US" sz="1400" b="1" dirty="0">
                <a:solidFill>
                  <a:srgbClr val="F59E0B"/>
                </a:solidFill>
                <a:latin typeface="Arial" pitchFamily="34" charset="0"/>
                <a:ea typeface="Arial" pitchFamily="34" charset="-122"/>
                <a:cs typeface="Arial" pitchFamily="34" charset="-120"/>
              </a:rPr>
              <a:t>— Quang Dũng - Tây Tiến</a:t>
            </a:r>
            <a:endParaRPr lang="en-US" sz="1400" dirty="0"/>
          </a:p>
        </p:txBody>
      </p:sp>
      <p:sp>
        <p:nvSpPr>
          <p:cNvPr id="7" name="Text 5"/>
          <p:cNvSpPr/>
          <p:nvPr/>
        </p:nvSpPr>
        <p:spPr>
          <a:xfrm>
            <a:off x="1280160" y="4389120"/>
            <a:ext cx="9601200" cy="1005840"/>
          </a:xfrm>
          <a:prstGeom prst="rect">
            <a:avLst/>
          </a:prstGeom>
          <a:noFill/>
          <a:ln/>
        </p:spPr>
        <p:txBody>
          <a:bodyPr wrap="square" rtlCol="0" anchor="ctr"/>
          <a:lstStyle/>
          <a:p>
            <a:pPr indent="0" marL="0">
              <a:buNone/>
            </a:pPr>
            <a:r>
              <a:rPr lang="en-US" sz="1300" b="1" dirty="0">
                <a:solidFill>
                  <a:srgbClr val="F59E0B"/>
                </a:solidFill>
                <a:latin typeface="Arial" pitchFamily="34" charset="0"/>
                <a:ea typeface="Arial" pitchFamily="34" charset="-122"/>
                <a:cs typeface="Arial" pitchFamily="34" charset="-120"/>
              </a:rPr>
              <a:t>Câu hỏi khám phá: </a:t>
            </a:r>
            <a:pPr indent="0" marL="0">
              <a:buNone/>
            </a:pPr>
            <a:r>
              <a:rPr lang="en-US" sz="1300" dirty="0">
                <a:solidFill>
                  <a:srgbClr val="E7E5E4"/>
                </a:solidFill>
                <a:latin typeface="Arial" pitchFamily="34" charset="0"/>
                <a:ea typeface="Arial" pitchFamily="34" charset="-122"/>
                <a:cs typeface="Arial" pitchFamily="34" charset="-120"/>
              </a:rPr>
              <a:t>Từ láy "chơi vơi" kết hợp với tiếng gọi "Tây Tiến ơi!" gợi lên trạng thái cảm xúc gì đặc biệt trong lòng người xa đơn vị?</a:t>
            </a:r>
            <a:endParaRPr lang="en-US" sz="1300" dirty="0"/>
          </a:p>
        </p:txBody>
      </p:sp>
      <p:sp>
        <p:nvSpPr>
          <p:cNvPr id="9" name="Text 6"/>
          <p:cNvSpPr/>
          <p:nvPr/>
        </p:nvSpPr>
        <p:spPr>
          <a:xfrm>
            <a:off x="731520" y="6126480"/>
            <a:ext cx="10698480" cy="365760"/>
          </a:xfrm>
          <a:prstGeom prst="rect">
            <a:avLst/>
          </a:prstGeom>
          <a:noFill/>
          <a:ln/>
        </p:spPr>
        <p:txBody>
          <a:bodyPr wrap="square" rtlCol="0" anchor="ctr"/>
          <a:lstStyle/>
          <a:p>
            <a:pPr indent="0" marL="0">
              <a:buNone/>
            </a:pPr>
            <a:r>
              <a:rPr lang="en-US" sz="1000" i="1" dirty="0">
                <a:solidFill>
                  <a:srgbClr val="A8A29E"/>
                </a:solidFill>
                <a:latin typeface="Arial" pitchFamily="34" charset="0"/>
                <a:ea typeface="Arial" pitchFamily="34" charset="-122"/>
                <a:cs typeface="Arial" pitchFamily="34" charset="-120"/>
              </a:rPr>
              <a:t>Ghi chú sư phạm: Cho học sinh ngâm thơ hoặc đọc diễn cảm 4 câu đầu; chú ý ngừng nghỉ sau dấu chấm than cảm thán.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1413"/>
        </a:solidFill>
      </p:bgPr>
    </p:bg>
    <p:spTree>
      <p:nvGrpSpPr>
        <p:cNvPr id="1" name=""/>
        <p:cNvGrpSpPr/>
        <p:nvPr/>
      </p:nvGrpSpPr>
      <p:grpSpPr>
        <a:xfrm>
          <a:off x="0" y="0"/>
          <a:ext cx="0" cy="0"/>
          <a:chOff x="0" y="0"/>
          <a:chExt cx="0" cy="0"/>
        </a:xfrm>
      </p:grpSpPr>
      <p:sp>
        <p:nvSpPr>
          <p:cNvPr id="2" name="Text 0"/>
          <p:cNvSpPr/>
          <p:nvPr/>
        </p:nvSpPr>
        <p:spPr>
          <a:xfrm>
            <a:off x="731520" y="365760"/>
            <a:ext cx="914400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KIẾN THỨC MỚI</a:t>
            </a:r>
            <a:pPr indent="0" marL="0">
              <a:buNone/>
            </a:pPr>
            <a:r>
              <a:rPr lang="en-US" sz="1000" dirty="0">
                <a:solidFill>
                  <a:srgbClr val="A8A29E"/>
                </a:solidFill>
                <a:latin typeface="Arial" pitchFamily="34" charset="0"/>
                <a:ea typeface="Arial" pitchFamily="34" charset="-122"/>
                <a:cs typeface="Arial" pitchFamily="34" charset="-120"/>
              </a:rPr>
              <a:t>  |  Slide 3/7</a:t>
            </a:r>
            <a:endParaRPr lang="en-US" sz="1000" dirty="0"/>
          </a:p>
        </p:txBody>
      </p:sp>
      <p:sp>
        <p:nvSpPr>
          <p:cNvPr id="3" name="Text 1"/>
          <p:cNvSpPr/>
          <p:nvPr/>
        </p:nvSpPr>
        <p:spPr>
          <a:xfrm>
            <a:off x="731520" y="731520"/>
            <a:ext cx="10698480" cy="822960"/>
          </a:xfrm>
          <a:prstGeom prst="rect">
            <a:avLst/>
          </a:prstGeom>
          <a:noFill/>
          <a:ln/>
        </p:spPr>
        <p:txBody>
          <a:bodyPr wrap="square" rtlCol="0" anchor="ctr"/>
          <a:lstStyle/>
          <a:p>
            <a:pPr algn="l" indent="0" marL="0">
              <a:buNone/>
            </a:pPr>
            <a:r>
              <a:rPr lang="en-US" sz="2400" b="1" dirty="0">
                <a:solidFill>
                  <a:srgbClr val="FAF8F5"/>
                </a:solidFill>
                <a:latin typeface="Georgia" pitchFamily="34" charset="0"/>
                <a:ea typeface="Georgia" pitchFamily="34" charset="-122"/>
                <a:cs typeface="Georgia" pitchFamily="34" charset="-120"/>
              </a:rPr>
              <a:t>THIÊN NHIÊN HIỂM TRỞ &amp; TÂM THẾ NGƯỜI LÍNH</a:t>
            </a:r>
            <a:endParaRPr lang="en-US" sz="2400" dirty="0"/>
          </a:p>
        </p:txBody>
      </p:sp>
      <p:sp>
        <p:nvSpPr>
          <p:cNvPr id="4" name="Shape 2"/>
          <p:cNvSpPr/>
          <p:nvPr/>
        </p:nvSpPr>
        <p:spPr>
          <a:xfrm>
            <a:off x="731520" y="1737360"/>
            <a:ext cx="5120640" cy="3931920"/>
          </a:xfrm>
          <a:prstGeom prst="roundRect">
            <a:avLst>
              <a:gd name="adj" fmla="val 3488"/>
            </a:avLst>
          </a:prstGeom>
          <a:solidFill>
            <a:srgbClr val="272221"/>
          </a:solidFill>
          <a:ln w="12700">
            <a:solidFill>
              <a:srgbClr val="44403C"/>
            </a:solidFill>
            <a:prstDash val="solid"/>
          </a:ln>
        </p:spPr>
      </p:sp>
      <p:sp>
        <p:nvSpPr>
          <p:cNvPr id="5" name="Text 3"/>
          <p:cNvSpPr/>
          <p:nvPr/>
        </p:nvSpPr>
        <p:spPr>
          <a:xfrm>
            <a:off x="914400" y="1920240"/>
            <a:ext cx="4754880" cy="1280160"/>
          </a:xfrm>
          <a:prstGeom prst="rect">
            <a:avLst/>
          </a:prstGeom>
          <a:noFill/>
          <a:ln/>
        </p:spPr>
        <p:txBody>
          <a:bodyPr wrap="square" rtlCol="0" anchor="ctr"/>
          <a:lstStyle/>
          <a:p>
            <a:pPr algn="l" indent="0" marL="0">
              <a:buNone/>
            </a:pPr>
            <a:r>
              <a:rPr lang="en-US" sz="1600" dirty="0">
                <a:solidFill>
                  <a:srgbClr val="E7E5E4"/>
                </a:solidFill>
                <a:latin typeface="Arial" pitchFamily="34" charset="0"/>
                <a:ea typeface="Arial" pitchFamily="34" charset="-122"/>
                <a:cs typeface="Arial" pitchFamily="34" charset="-120"/>
              </a:rPr>
              <a:t>Vẻ đẹp hùng vĩ dữ dội của đèo dốc Tây Bắc được tái hiện qua nghệ thuật điêu khắc ngôn từ:</a:t>
            </a:r>
            <a:endParaRPr lang="en-US" sz="1600" dirty="0"/>
          </a:p>
          <a:p>
            <a:pPr algn="l" indent="0" marL="0">
              <a:buNone/>
            </a:pPr>
            <a:endParaRPr lang="en-US" sz="1600" dirty="0"/>
          </a:p>
          <a:p>
            <a:pPr algn="l" indent="0" marL="0">
              <a:buNone/>
            </a:pPr>
            <a:r>
              <a:rPr lang="en-US" sz="1600" dirty="0">
                <a:solidFill>
                  <a:srgbClr val="E7E5E4"/>
                </a:solidFill>
                <a:latin typeface="Arial" pitchFamily="34" charset="0"/>
                <a:ea typeface="Arial" pitchFamily="34" charset="-122"/>
                <a:cs typeface="Arial" pitchFamily="34" charset="-120"/>
              </a:rPr>
              <a:t>• Điệp từ "dốc" kết hợp từ láy "khúc khuỷu", "thăm thẳm" diễn tả độ gập ghềnh, sâu hun hút.</a:t>
            </a:r>
            <a:endParaRPr lang="en-US" sz="1600" dirty="0"/>
          </a:p>
          <a:p>
            <a:pPr algn="l" indent="0" marL="0">
              <a:buNone/>
            </a:pPr>
            <a:r>
              <a:rPr lang="en-US" sz="1600" dirty="0">
                <a:solidFill>
                  <a:srgbClr val="E7E5E4"/>
                </a:solidFill>
                <a:latin typeface="Arial" pitchFamily="34" charset="0"/>
                <a:ea typeface="Arial" pitchFamily="34" charset="-122"/>
                <a:cs typeface="Arial" pitchFamily="34" charset="-120"/>
              </a:rPr>
              <a:t>• Nghệ thuật phối thanh độc đáo: nhiều thanh trắc gắt gao tạo cảm giác dốc đứng trắc trở.</a:t>
            </a:r>
            <a:endParaRPr lang="en-US" sz="1600" dirty="0"/>
          </a:p>
        </p:txBody>
      </p:sp>
      <p:sp>
        <p:nvSpPr>
          <p:cNvPr id="6" name="Shape 4"/>
          <p:cNvSpPr/>
          <p:nvPr/>
        </p:nvSpPr>
        <p:spPr>
          <a:xfrm>
            <a:off x="6217920" y="1737360"/>
            <a:ext cx="5120640" cy="3931920"/>
          </a:xfrm>
          <a:prstGeom prst="roundRect">
            <a:avLst>
              <a:gd name="adj" fmla="val 3488"/>
            </a:avLst>
          </a:prstGeom>
          <a:solidFill>
            <a:srgbClr val="272221"/>
          </a:solidFill>
          <a:ln w="12700">
            <a:solidFill>
              <a:srgbClr val="44403C"/>
            </a:solidFill>
            <a:prstDash val="solid"/>
          </a:ln>
        </p:spPr>
      </p:sp>
      <p:sp>
        <p:nvSpPr>
          <p:cNvPr id="7" name="Text 5"/>
          <p:cNvSpPr/>
          <p:nvPr/>
        </p:nvSpPr>
        <p:spPr>
          <a:xfrm>
            <a:off x="6400800" y="1920240"/>
            <a:ext cx="4754880" cy="3566160"/>
          </a:xfrm>
          <a:prstGeom prst="rect">
            <a:avLst/>
          </a:prstGeom>
          <a:noFill/>
          <a:ln/>
        </p:spPr>
        <p:txBody>
          <a:bodyPr wrap="square" rtlCol="0" anchor="ctr"/>
          <a:lstStyle/>
          <a:p>
            <a:pPr algn="l" indent="0" marL="0">
              <a:buNone/>
            </a:pPr>
            <a:r>
              <a:rPr lang="en-US" sz="1600" dirty="0">
                <a:solidFill>
                  <a:srgbClr val="E7E5E4"/>
                </a:solidFill>
                <a:latin typeface="Georgia" pitchFamily="34" charset="0"/>
                <a:ea typeface="Georgia" pitchFamily="34" charset="-122"/>
                <a:cs typeface="Georgia" pitchFamily="34" charset="-120"/>
              </a:rPr>
              <a:t>SỨC MẠNH &amp; KHÍ PHÁCH NGƯỜI CHIẾN SĨ:</a:t>
            </a:r>
            <a:endParaRPr lang="en-US" sz="1600" dirty="0"/>
          </a:p>
          <a:p>
            <a:pPr algn="l" indent="0" marL="0">
              <a:buNone/>
            </a:pPr>
            <a:endParaRPr lang="en-US" sz="1600" dirty="0"/>
          </a:p>
          <a:p>
            <a:pPr algn="l" indent="0" marL="0">
              <a:buNone/>
            </a:pPr>
            <a:r>
              <a:rPr lang="en-US" sz="1600" dirty="0">
                <a:solidFill>
                  <a:srgbClr val="E7E5E4"/>
                </a:solidFill>
                <a:latin typeface="Georgia" pitchFamily="34" charset="0"/>
                <a:ea typeface="Georgia" pitchFamily="34" charset="-122"/>
                <a:cs typeface="Georgia" pitchFamily="34" charset="-120"/>
              </a:rPr>
              <a:t>"Heo hút cồn mây, súng ngửi trời."</a:t>
            </a:r>
            <a:endParaRPr lang="en-US" sz="1600" dirty="0"/>
          </a:p>
          <a:p>
            <a:pPr algn="l" indent="0" marL="0">
              <a:buNone/>
            </a:pPr>
            <a:endParaRPr lang="en-US" sz="1600" dirty="0"/>
          </a:p>
          <a:p>
            <a:pPr algn="l" indent="0" marL="0">
              <a:buNone/>
            </a:pPr>
            <a:r>
              <a:rPr lang="en-US" sz="1600" dirty="0">
                <a:solidFill>
                  <a:srgbClr val="E7E5E4"/>
                </a:solidFill>
                <a:latin typeface="Georgia" pitchFamily="34" charset="0"/>
                <a:ea typeface="Georgia" pitchFamily="34" charset="-122"/>
                <a:cs typeface="Georgia" pitchFamily="34" charset="-120"/>
              </a:rPr>
              <a:t>• "Súng ngửi trời": hình ảnh nhân hóa táo bạo, vừa tả độ cao tột cùng nơi mũi súng chạm mây trời, vừa thể hiện nét hóm hỉnh, tếu táo rất thanh niên Hà Nội.</a:t>
            </a:r>
            <a:endParaRPr lang="en-US" sz="1600" dirty="0"/>
          </a:p>
          <a:p>
            <a:pPr algn="l" indent="0" marL="0">
              <a:buNone/>
            </a:pPr>
            <a:endParaRPr lang="en-US" sz="1600" dirty="0"/>
          </a:p>
          <a:p>
            <a:pPr algn="l" indent="0" marL="0">
              <a:buNone/>
            </a:pPr>
            <a:r>
              <a:rPr lang="en-US" sz="1600" dirty="0">
                <a:solidFill>
                  <a:srgbClr val="E7E5E4"/>
                </a:solidFill>
                <a:latin typeface="Georgia" pitchFamily="34" charset="0"/>
                <a:ea typeface="Georgia" pitchFamily="34" charset="-122"/>
                <a:cs typeface="Georgia" pitchFamily="34" charset="-120"/>
              </a:rPr>
              <a:t>"Nhà ai Pha Luông mưa xa khơi"</a:t>
            </a:r>
            <a:endParaRPr lang="en-US" sz="1600" dirty="0"/>
          </a:p>
          <a:p>
            <a:pPr algn="l" indent="0" marL="0">
              <a:buNone/>
            </a:pPr>
            <a:r>
              <a:rPr lang="en-US" sz="1600" dirty="0">
                <a:solidFill>
                  <a:srgbClr val="E7E5E4"/>
                </a:solidFill>
                <a:latin typeface="Georgia" pitchFamily="34" charset="0"/>
                <a:ea typeface="Georgia" pitchFamily="34" charset="-122"/>
                <a:cs typeface="Georgia" pitchFamily="34" charset="-120"/>
              </a:rPr>
              <a:t>• Câu thơ toàn thanh bằng như một khoảng lặng bình yên, làm dịu đi bao nhọc nhằn dốc đứng.</a:t>
            </a:r>
            <a:endParaRPr lang="en-US" sz="1600" dirty="0"/>
          </a:p>
        </p:txBody>
      </p:sp>
      <p:sp>
        <p:nvSpPr>
          <p:cNvPr id="9" name="Text 6"/>
          <p:cNvSpPr/>
          <p:nvPr/>
        </p:nvSpPr>
        <p:spPr>
          <a:xfrm>
            <a:off x="731520" y="6126480"/>
            <a:ext cx="10698480" cy="365760"/>
          </a:xfrm>
          <a:prstGeom prst="rect">
            <a:avLst/>
          </a:prstGeom>
          <a:noFill/>
          <a:ln/>
        </p:spPr>
        <p:txBody>
          <a:bodyPr wrap="square" rtlCol="0" anchor="ctr"/>
          <a:lstStyle/>
          <a:p>
            <a:pPr indent="0" marL="0">
              <a:buNone/>
            </a:pPr>
            <a:r>
              <a:rPr lang="en-US" sz="1000" i="1" dirty="0">
                <a:solidFill>
                  <a:srgbClr val="A8A29E"/>
                </a:solidFill>
                <a:latin typeface="Arial" pitchFamily="34" charset="0"/>
                <a:ea typeface="Arial" pitchFamily="34" charset="-122"/>
                <a:cs typeface="Arial" pitchFamily="34" charset="-120"/>
              </a:rPr>
              <a:t>Ghi chú sư phạm: Nhấn mạnh nghệ thuật đối lập giữa câu thơ nhiều trắc và câu thơ toàn thanh bằng để tạo nhịp thở cho bài thơ.</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1413"/>
        </a:solidFill>
      </p:bgPr>
    </p:bg>
    <p:spTree>
      <p:nvGrpSpPr>
        <p:cNvPr id="1" name=""/>
        <p:cNvGrpSpPr/>
        <p:nvPr/>
      </p:nvGrpSpPr>
      <p:grpSpPr>
        <a:xfrm>
          <a:off x="0" y="0"/>
          <a:ext cx="0" cy="0"/>
          <a:chOff x="0" y="0"/>
          <a:chExt cx="0" cy="0"/>
        </a:xfrm>
      </p:grpSpPr>
      <p:sp>
        <p:nvSpPr>
          <p:cNvPr id="2" name="Text 0"/>
          <p:cNvSpPr/>
          <p:nvPr/>
        </p:nvSpPr>
        <p:spPr>
          <a:xfrm>
            <a:off x="731520" y="365760"/>
            <a:ext cx="914400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KIẾN THỨC MỚI</a:t>
            </a:r>
            <a:pPr indent="0" marL="0">
              <a:buNone/>
            </a:pPr>
            <a:r>
              <a:rPr lang="en-US" sz="1000" dirty="0">
                <a:solidFill>
                  <a:srgbClr val="A8A29E"/>
                </a:solidFill>
                <a:latin typeface="Arial" pitchFamily="34" charset="0"/>
                <a:ea typeface="Arial" pitchFamily="34" charset="-122"/>
                <a:cs typeface="Arial" pitchFamily="34" charset="-120"/>
              </a:rPr>
              <a:t>  |  Slide 4/7</a:t>
            </a:r>
            <a:endParaRPr lang="en-US" sz="1000" dirty="0"/>
          </a:p>
        </p:txBody>
      </p:sp>
      <p:sp>
        <p:nvSpPr>
          <p:cNvPr id="3" name="Text 1"/>
          <p:cNvSpPr/>
          <p:nvPr/>
        </p:nvSpPr>
        <p:spPr>
          <a:xfrm>
            <a:off x="731520" y="731520"/>
            <a:ext cx="10698480" cy="822960"/>
          </a:xfrm>
          <a:prstGeom prst="rect">
            <a:avLst/>
          </a:prstGeom>
          <a:noFill/>
          <a:ln/>
        </p:spPr>
        <p:txBody>
          <a:bodyPr wrap="square" rtlCol="0" anchor="ctr"/>
          <a:lstStyle/>
          <a:p>
            <a:pPr algn="l" indent="0" marL="0">
              <a:buNone/>
            </a:pPr>
            <a:r>
              <a:rPr lang="en-US" sz="2400" b="1" dirty="0">
                <a:solidFill>
                  <a:srgbClr val="FAF8F5"/>
                </a:solidFill>
                <a:latin typeface="Georgia" pitchFamily="34" charset="0"/>
                <a:ea typeface="Georgia" pitchFamily="34" charset="-122"/>
                <a:cs typeface="Georgia" pitchFamily="34" charset="-120"/>
              </a:rPr>
              <a:t>BỨC TƯỢNG ĐÀI BI TRÁNG VỀ NGƯỜI LÍNH</a:t>
            </a:r>
            <a:endParaRPr lang="en-US" sz="2400" dirty="0"/>
          </a:p>
        </p:txBody>
      </p:sp>
      <p:sp>
        <p:nvSpPr>
          <p:cNvPr id="4" name="Shape 2"/>
          <p:cNvSpPr/>
          <p:nvPr/>
        </p:nvSpPr>
        <p:spPr>
          <a:xfrm>
            <a:off x="731520" y="1828800"/>
            <a:ext cx="3291840" cy="3840480"/>
          </a:xfrm>
          <a:prstGeom prst="roundRect">
            <a:avLst>
              <a:gd name="adj" fmla="val 4167"/>
            </a:avLst>
          </a:prstGeom>
          <a:solidFill>
            <a:srgbClr val="272221"/>
          </a:solidFill>
          <a:ln w="12700">
            <a:solidFill>
              <a:srgbClr val="F59E0B"/>
            </a:solidFill>
            <a:prstDash val="solid"/>
          </a:ln>
        </p:spPr>
      </p:sp>
      <p:sp>
        <p:nvSpPr>
          <p:cNvPr id="5" name="Text 3"/>
          <p:cNvSpPr/>
          <p:nvPr/>
        </p:nvSpPr>
        <p:spPr>
          <a:xfrm>
            <a:off x="914400" y="2011680"/>
            <a:ext cx="2926080" cy="548640"/>
          </a:xfrm>
          <a:prstGeom prst="rect">
            <a:avLst/>
          </a:prstGeom>
          <a:noFill/>
          <a:ln/>
        </p:spPr>
        <p:txBody>
          <a:bodyPr wrap="square" rtlCol="0" anchor="ctr"/>
          <a:lstStyle/>
          <a:p>
            <a:pPr indent="0" marL="0">
              <a:buNone/>
            </a:pPr>
            <a:r>
              <a:rPr lang="en-US" sz="1500" b="1" dirty="0">
                <a:solidFill>
                  <a:srgbClr val="F59E0B"/>
                </a:solidFill>
                <a:latin typeface="Georgia" pitchFamily="34" charset="0"/>
                <a:ea typeface="Georgia" pitchFamily="34" charset="-122"/>
                <a:cs typeface="Georgia" pitchFamily="34" charset="-120"/>
              </a:rPr>
              <a:t>NGOẠI HÌNH ĐẶC BIỆT</a:t>
            </a:r>
            <a:endParaRPr lang="en-US" sz="1500" dirty="0"/>
          </a:p>
        </p:txBody>
      </p:sp>
      <p:sp>
        <p:nvSpPr>
          <p:cNvPr id="6" name="Text 4"/>
          <p:cNvSpPr/>
          <p:nvPr/>
        </p:nvSpPr>
        <p:spPr>
          <a:xfrm>
            <a:off x="914400" y="2651760"/>
            <a:ext cx="2926080" cy="2834640"/>
          </a:xfrm>
          <a:prstGeom prst="rect">
            <a:avLst/>
          </a:prstGeom>
          <a:noFill/>
          <a:ln/>
        </p:spPr>
        <p:txBody>
          <a:bodyPr wrap="square" rtlCol="0" anchor="ctr"/>
          <a:lstStyle/>
          <a:p>
            <a:pPr algn="l" indent="0" marL="0">
              <a:buNone/>
            </a:pPr>
            <a:r>
              <a:rPr lang="en-US" sz="1300" dirty="0">
                <a:solidFill>
                  <a:srgbClr val="E7E5E4"/>
                </a:solidFill>
                <a:latin typeface="Arial" pitchFamily="34" charset="0"/>
                <a:ea typeface="Arial" pitchFamily="34" charset="-122"/>
                <a:cs typeface="Arial" pitchFamily="34" charset="-120"/>
              </a:rPr>
              <a:t>"Không mọc tóc", "quân xanh màu lá" - hiện thực sốt rét rừng tàn khốc nhưng vẫn "dữ oai hùm" đầy uy dũng của loài chúa sơn lâm.</a:t>
            </a:r>
            <a:endParaRPr lang="en-US" sz="1300" dirty="0"/>
          </a:p>
        </p:txBody>
      </p:sp>
      <p:sp>
        <p:nvSpPr>
          <p:cNvPr id="7" name="Shape 5"/>
          <p:cNvSpPr/>
          <p:nvPr/>
        </p:nvSpPr>
        <p:spPr>
          <a:xfrm>
            <a:off x="4343400" y="1828800"/>
            <a:ext cx="3291840" cy="3840480"/>
          </a:xfrm>
          <a:prstGeom prst="roundRect">
            <a:avLst>
              <a:gd name="adj" fmla="val 4167"/>
            </a:avLst>
          </a:prstGeom>
          <a:solidFill>
            <a:srgbClr val="272221"/>
          </a:solidFill>
          <a:ln w="12700">
            <a:solidFill>
              <a:srgbClr val="F59E0B"/>
            </a:solidFill>
            <a:prstDash val="solid"/>
          </a:ln>
        </p:spPr>
      </p:sp>
      <p:sp>
        <p:nvSpPr>
          <p:cNvPr id="8" name="Text 6"/>
          <p:cNvSpPr/>
          <p:nvPr/>
        </p:nvSpPr>
        <p:spPr>
          <a:xfrm>
            <a:off x="4526280" y="2011680"/>
            <a:ext cx="2926080" cy="548640"/>
          </a:xfrm>
          <a:prstGeom prst="rect">
            <a:avLst/>
          </a:prstGeom>
          <a:noFill/>
          <a:ln/>
        </p:spPr>
        <p:txBody>
          <a:bodyPr wrap="square" rtlCol="0" anchor="ctr"/>
          <a:lstStyle/>
          <a:p>
            <a:pPr indent="0" marL="0">
              <a:buNone/>
            </a:pPr>
            <a:r>
              <a:rPr lang="en-US" sz="1500" b="1" dirty="0">
                <a:solidFill>
                  <a:srgbClr val="F59E0B"/>
                </a:solidFill>
                <a:latin typeface="Georgia" pitchFamily="34" charset="0"/>
                <a:ea typeface="Georgia" pitchFamily="34" charset="-122"/>
                <a:cs typeface="Georgia" pitchFamily="34" charset="-120"/>
              </a:rPr>
              <a:t>TÂM HỒN HÀO HOA</a:t>
            </a:r>
            <a:endParaRPr lang="en-US" sz="1500" dirty="0"/>
          </a:p>
        </p:txBody>
      </p:sp>
      <p:sp>
        <p:nvSpPr>
          <p:cNvPr id="9" name="Text 7"/>
          <p:cNvSpPr/>
          <p:nvPr/>
        </p:nvSpPr>
        <p:spPr>
          <a:xfrm>
            <a:off x="4526280" y="2651760"/>
            <a:ext cx="2926080" cy="2834640"/>
          </a:xfrm>
          <a:prstGeom prst="rect">
            <a:avLst/>
          </a:prstGeom>
          <a:noFill/>
          <a:ln/>
        </p:spPr>
        <p:txBody>
          <a:bodyPr wrap="square" rtlCol="0" anchor="ctr"/>
          <a:lstStyle/>
          <a:p>
            <a:pPr algn="l" indent="0" marL="0">
              <a:buNone/>
            </a:pPr>
            <a:r>
              <a:rPr lang="en-US" sz="1300" dirty="0">
                <a:solidFill>
                  <a:srgbClr val="E7E5E4"/>
                </a:solidFill>
                <a:latin typeface="Arial" pitchFamily="34" charset="0"/>
                <a:ea typeface="Arial" pitchFamily="34" charset="-122"/>
                <a:cs typeface="Arial" pitchFamily="34" charset="-120"/>
              </a:rPr>
              <a:t>"Mắt trừng gửi mộng" hướng về tiền tuyến, nhưng vẫn "đêm mơ Hà Nội dáng kiều thơm" - vẻ đẹp lãng mạn thanh lịch của trí thức trẻ.</a:t>
            </a:r>
            <a:endParaRPr lang="en-US" sz="1300" dirty="0"/>
          </a:p>
        </p:txBody>
      </p:sp>
      <p:sp>
        <p:nvSpPr>
          <p:cNvPr id="10" name="Shape 8"/>
          <p:cNvSpPr/>
          <p:nvPr/>
        </p:nvSpPr>
        <p:spPr>
          <a:xfrm>
            <a:off x="7955280" y="1828800"/>
            <a:ext cx="3291840" cy="3840480"/>
          </a:xfrm>
          <a:prstGeom prst="roundRect">
            <a:avLst>
              <a:gd name="adj" fmla="val 4167"/>
            </a:avLst>
          </a:prstGeom>
          <a:solidFill>
            <a:srgbClr val="272221"/>
          </a:solidFill>
          <a:ln w="12700">
            <a:solidFill>
              <a:srgbClr val="F59E0B"/>
            </a:solidFill>
            <a:prstDash val="solid"/>
          </a:ln>
        </p:spPr>
      </p:sp>
      <p:sp>
        <p:nvSpPr>
          <p:cNvPr id="11" name="Text 9"/>
          <p:cNvSpPr/>
          <p:nvPr/>
        </p:nvSpPr>
        <p:spPr>
          <a:xfrm>
            <a:off x="8138160" y="2011680"/>
            <a:ext cx="2926080" cy="548640"/>
          </a:xfrm>
          <a:prstGeom prst="rect">
            <a:avLst/>
          </a:prstGeom>
          <a:noFill/>
          <a:ln/>
        </p:spPr>
        <p:txBody>
          <a:bodyPr wrap="square" rtlCol="0" anchor="ctr"/>
          <a:lstStyle/>
          <a:p>
            <a:pPr indent="0" marL="0">
              <a:buNone/>
            </a:pPr>
            <a:r>
              <a:rPr lang="en-US" sz="1500" b="1" dirty="0">
                <a:solidFill>
                  <a:srgbClr val="F59E0B"/>
                </a:solidFill>
                <a:latin typeface="Georgia" pitchFamily="34" charset="0"/>
                <a:ea typeface="Georgia" pitchFamily="34" charset="-122"/>
                <a:cs typeface="Georgia" pitchFamily="34" charset="-120"/>
              </a:rPr>
              <a:t>LÝ TƯỞNG QUÊN MÌNH</a:t>
            </a:r>
            <a:endParaRPr lang="en-US" sz="1500" dirty="0"/>
          </a:p>
        </p:txBody>
      </p:sp>
      <p:sp>
        <p:nvSpPr>
          <p:cNvPr id="12" name="Text 10"/>
          <p:cNvSpPr/>
          <p:nvPr/>
        </p:nvSpPr>
        <p:spPr>
          <a:xfrm>
            <a:off x="8138160" y="2651760"/>
            <a:ext cx="2926080" cy="2834640"/>
          </a:xfrm>
          <a:prstGeom prst="rect">
            <a:avLst/>
          </a:prstGeom>
          <a:noFill/>
          <a:ln/>
        </p:spPr>
        <p:txBody>
          <a:bodyPr wrap="square" rtlCol="0" anchor="ctr"/>
          <a:lstStyle/>
          <a:p>
            <a:pPr algn="l" indent="0" marL="0">
              <a:buNone/>
            </a:pPr>
            <a:r>
              <a:rPr lang="en-US" sz="1300" dirty="0">
                <a:solidFill>
                  <a:srgbClr val="E7E5E4"/>
                </a:solidFill>
                <a:latin typeface="Arial" pitchFamily="34" charset="0"/>
                <a:ea typeface="Arial" pitchFamily="34" charset="-122"/>
                <a:cs typeface="Arial" pitchFamily="34" charset="-120"/>
              </a:rPr>
              <a:t>"Chiến trường đi chẳng tiếc đời xanh" - coi cái chết nhẹ tựa lông hồng, sẵn sàng hiến dâng tuổi xuân cho Tổ quốc quyết sinh.</a:t>
            </a:r>
            <a:endParaRPr lang="en-US" sz="1300" dirty="0"/>
          </a:p>
        </p:txBody>
      </p:sp>
      <p:sp>
        <p:nvSpPr>
          <p:cNvPr id="14" name="Text 11"/>
          <p:cNvSpPr/>
          <p:nvPr/>
        </p:nvSpPr>
        <p:spPr>
          <a:xfrm>
            <a:off x="731520" y="6126480"/>
            <a:ext cx="10698480" cy="365760"/>
          </a:xfrm>
          <a:prstGeom prst="rect">
            <a:avLst/>
          </a:prstGeom>
          <a:noFill/>
          <a:ln/>
        </p:spPr>
        <p:txBody>
          <a:bodyPr wrap="square" rtlCol="0" anchor="ctr"/>
          <a:lstStyle/>
          <a:p>
            <a:pPr indent="0" marL="0">
              <a:buNone/>
            </a:pPr>
            <a:r>
              <a:rPr lang="en-US" sz="1000" i="1" dirty="0">
                <a:solidFill>
                  <a:srgbClr val="A8A29E"/>
                </a:solidFill>
                <a:latin typeface="Arial" pitchFamily="34" charset="0"/>
                <a:ea typeface="Arial" pitchFamily="34" charset="-122"/>
                <a:cs typeface="Arial" pitchFamily="34" charset="-120"/>
              </a:rPr>
              <a:t>Ghi chú sư phạm: Phân tích từ "bi tráng": BI là mất mát đau thương, TRÁNG là hào hùng tráng lệ; bi mà không lụy.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1413"/>
        </a:solidFill>
      </p:bgPr>
    </p:bg>
    <p:spTree>
      <p:nvGrpSpPr>
        <p:cNvPr id="1" name=""/>
        <p:cNvGrpSpPr/>
        <p:nvPr/>
      </p:nvGrpSpPr>
      <p:grpSpPr>
        <a:xfrm>
          <a:off x="0" y="0"/>
          <a:ext cx="0" cy="0"/>
          <a:chOff x="0" y="0"/>
          <a:chExt cx="0" cy="0"/>
        </a:xfrm>
      </p:grpSpPr>
      <p:sp>
        <p:nvSpPr>
          <p:cNvPr id="2" name="Text 0"/>
          <p:cNvSpPr/>
          <p:nvPr/>
        </p:nvSpPr>
        <p:spPr>
          <a:xfrm>
            <a:off x="731520" y="365760"/>
            <a:ext cx="914400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KIẾN THỨC MỚI</a:t>
            </a:r>
            <a:pPr indent="0" marL="0">
              <a:buNone/>
            </a:pPr>
            <a:r>
              <a:rPr lang="en-US" sz="1000" dirty="0">
                <a:solidFill>
                  <a:srgbClr val="A8A29E"/>
                </a:solidFill>
                <a:latin typeface="Arial" pitchFamily="34" charset="0"/>
                <a:ea typeface="Arial" pitchFamily="34" charset="-122"/>
                <a:cs typeface="Arial" pitchFamily="34" charset="-120"/>
              </a:rPr>
              <a:t>  |  Slide 5/7</a:t>
            </a:r>
            <a:endParaRPr lang="en-US" sz="1000" dirty="0"/>
          </a:p>
        </p:txBody>
      </p:sp>
      <p:sp>
        <p:nvSpPr>
          <p:cNvPr id="3" name="Text 1"/>
          <p:cNvSpPr/>
          <p:nvPr/>
        </p:nvSpPr>
        <p:spPr>
          <a:xfrm>
            <a:off x="731520" y="731520"/>
            <a:ext cx="10698480" cy="822960"/>
          </a:xfrm>
          <a:prstGeom prst="rect">
            <a:avLst/>
          </a:prstGeom>
          <a:noFill/>
          <a:ln/>
        </p:spPr>
        <p:txBody>
          <a:bodyPr wrap="square" rtlCol="0" anchor="ctr"/>
          <a:lstStyle/>
          <a:p>
            <a:pPr algn="l" indent="0" marL="0">
              <a:buNone/>
            </a:pPr>
            <a:r>
              <a:rPr lang="en-US" sz="2400" b="1" dirty="0">
                <a:solidFill>
                  <a:srgbClr val="FAF8F5"/>
                </a:solidFill>
                <a:latin typeface="Georgia" pitchFamily="34" charset="0"/>
                <a:ea typeface="Georgia" pitchFamily="34" charset="-122"/>
                <a:cs typeface="Georgia" pitchFamily="34" charset="-120"/>
              </a:rPr>
              <a:t>SƠ ĐỒ MẠCH CẢM XÚC (EMOTIONAL ARC)</a:t>
            </a:r>
            <a:endParaRPr lang="en-US" sz="2400" dirty="0"/>
          </a:p>
        </p:txBody>
      </p:sp>
      <p:sp>
        <p:nvSpPr>
          <p:cNvPr id="4" name="Shape 2"/>
          <p:cNvSpPr/>
          <p:nvPr/>
        </p:nvSpPr>
        <p:spPr>
          <a:xfrm>
            <a:off x="1097280" y="1737360"/>
            <a:ext cx="9966960" cy="3931920"/>
          </a:xfrm>
          <a:prstGeom prst="roundRect">
            <a:avLst>
              <a:gd name="adj" fmla="val 4651"/>
            </a:avLst>
          </a:prstGeom>
          <a:solidFill>
            <a:srgbClr val="272221"/>
          </a:solidFill>
          <a:ln w="12700">
            <a:solidFill>
              <a:srgbClr val="44403C"/>
            </a:solidFill>
            <a:prstDash val="solid"/>
          </a:ln>
        </p:spPr>
      </p:sp>
      <p:sp>
        <p:nvSpPr>
          <p:cNvPr id="5" name="Text 3"/>
          <p:cNvSpPr/>
          <p:nvPr/>
        </p:nvSpPr>
        <p:spPr>
          <a:xfrm>
            <a:off x="1463040" y="2011680"/>
            <a:ext cx="9235440" cy="1280160"/>
          </a:xfrm>
          <a:prstGeom prst="rect">
            <a:avLst/>
          </a:prstGeom>
          <a:noFill/>
          <a:ln/>
        </p:spPr>
        <p:txBody>
          <a:bodyPr wrap="square" rtlCol="0" anchor="ctr"/>
          <a:lstStyle/>
          <a:p>
            <a:pPr algn="l" indent="0" marL="0">
              <a:buNone/>
            </a:pPr>
            <a:r>
              <a:rPr lang="en-US" sz="1700" dirty="0">
                <a:solidFill>
                  <a:srgbClr val="E7E5E4"/>
                </a:solidFill>
                <a:latin typeface="Arial" pitchFamily="34" charset="0"/>
                <a:ea typeface="Arial" pitchFamily="34" charset="-122"/>
                <a:cs typeface="Arial" pitchFamily="34" charset="-120"/>
              </a:rPr>
              <a:t>Mạch cảm xúc bài thơ vận động theo dòng hoài niệm liên tưởng độc đáo:</a:t>
            </a:r>
            <a:endParaRPr lang="en-US" sz="1700" dirty="0"/>
          </a:p>
        </p:txBody>
      </p:sp>
      <p:sp>
        <p:nvSpPr>
          <p:cNvPr id="6" name="Text 4"/>
          <p:cNvSpPr/>
          <p:nvPr/>
        </p:nvSpPr>
        <p:spPr>
          <a:xfrm>
            <a:off x="1463040" y="3383280"/>
            <a:ext cx="9235440" cy="2011680"/>
          </a:xfrm>
          <a:prstGeom prst="rect">
            <a:avLst/>
          </a:prstGeom>
          <a:noFill/>
          <a:ln/>
        </p:spPr>
        <p:txBody>
          <a:bodyPr wrap="square" rtlCol="0" anchor="ctr"/>
          <a:lstStyle/>
          <a:p>
            <a:pPr algn="l" marL="203200" indent="-203200">
              <a:buSzPct val="100000"/>
              <a:buChar char="•"/>
            </a:pPr>
            <a:r>
              <a:rPr lang="en-US" sz="1400" dirty="0">
                <a:solidFill>
                  <a:srgbClr val="E7E5E4"/>
                </a:solidFill>
                <a:latin typeface="Arial" pitchFamily="34" charset="0"/>
                <a:ea typeface="Arial" pitchFamily="34" charset="-122"/>
                <a:cs typeface="Arial" pitchFamily="34" charset="-120"/>
              </a:rPr>
              <a:t>Giai đoạn 1: Nỗi nhớ bồi hồi dâng trào (Sông Mã, núi rừng Tây Bắc)</a:t>
            </a:r>
            <a:endParaRPr lang="en-US" sz="1400" dirty="0"/>
          </a:p>
          <a:p>
            <a:pPr algn="l" marL="203200" indent="-203200">
              <a:buSzPct val="100000"/>
              <a:buChar char="•"/>
            </a:pPr>
            <a:r>
              <a:rPr lang="en-US" sz="1400" dirty="0">
                <a:solidFill>
                  <a:srgbClr val="E7E5E4"/>
                </a:solidFill>
                <a:latin typeface="Arial" pitchFamily="34" charset="0"/>
                <a:ea typeface="Arial" pitchFamily="34" charset="-122"/>
                <a:cs typeface="Arial" pitchFamily="34" charset="-120"/>
              </a:rPr>
              <a:t>Giai đoạn 2: Trải nghiệm dốc đèo gian nan thử thách (Khúc khuỷu, súng ngửi trời)</a:t>
            </a:r>
            <a:endParaRPr lang="en-US" sz="1400" dirty="0"/>
          </a:p>
          <a:p>
            <a:pPr algn="l" marL="203200" indent="-203200">
              <a:buSzPct val="100000"/>
              <a:buChar char="•"/>
            </a:pPr>
            <a:r>
              <a:rPr lang="en-US" sz="1400" dirty="0">
                <a:solidFill>
                  <a:srgbClr val="E7E5E4"/>
                </a:solidFill>
                <a:latin typeface="Arial" pitchFamily="34" charset="0"/>
                <a:ea typeface="Arial" pitchFamily="34" charset="-122"/>
                <a:cs typeface="Arial" pitchFamily="34" charset="-120"/>
              </a:rPr>
              <a:t>Giai đoạn 3: Ấm lòng đêm liên hoan bản làng (Hội đuốc hoa, khèn man điệu)</a:t>
            </a:r>
            <a:endParaRPr lang="en-US" sz="1400" dirty="0"/>
          </a:p>
          <a:p>
            <a:pPr algn="l" marL="203200" indent="-203200">
              <a:buSzPct val="100000"/>
              <a:buChar char="•"/>
            </a:pPr>
            <a:r>
              <a:rPr lang="en-US" sz="1400" dirty="0">
                <a:solidFill>
                  <a:srgbClr val="E7E5E4"/>
                </a:solidFill>
                <a:latin typeface="Arial" pitchFamily="34" charset="0"/>
                <a:ea typeface="Arial" pitchFamily="34" charset="-122"/>
                <a:cs typeface="Arial" pitchFamily="34" charset="-120"/>
              </a:rPr>
              <a:t>Giai đoạn 4: Đỉnh điểm bi tráng về đồng đội ngã xuống (Áo bào thay chiếu, Sông Mã gầm)</a:t>
            </a:r>
            <a:endParaRPr lang="en-US" sz="1400" dirty="0"/>
          </a:p>
          <a:p>
            <a:pPr algn="l" marL="203200" indent="-203200">
              <a:buSzPct val="100000"/>
              <a:buChar char="•"/>
            </a:pPr>
            <a:r>
              <a:rPr lang="en-US" sz="1400" dirty="0">
                <a:solidFill>
                  <a:srgbClr val="E7E5E4"/>
                </a:solidFill>
                <a:latin typeface="Arial" pitchFamily="34" charset="0"/>
                <a:ea typeface="Arial" pitchFamily="34" charset="-122"/>
                <a:cs typeface="Arial" pitchFamily="34" charset="-120"/>
              </a:rPr>
              <a:t>Giai đoạn 5: Lời thề non nước vĩnh cửu (Hồn về Sầm Nứa chẳng về xuôi)</a:t>
            </a:r>
            <a:endParaRPr lang="en-US" sz="1400" dirty="0"/>
          </a:p>
        </p:txBody>
      </p:sp>
      <p:sp>
        <p:nvSpPr>
          <p:cNvPr id="8" name="Text 5"/>
          <p:cNvSpPr/>
          <p:nvPr/>
        </p:nvSpPr>
        <p:spPr>
          <a:xfrm>
            <a:off x="731520" y="6126480"/>
            <a:ext cx="10698480" cy="365760"/>
          </a:xfrm>
          <a:prstGeom prst="rect">
            <a:avLst/>
          </a:prstGeom>
          <a:noFill/>
          <a:ln/>
        </p:spPr>
        <p:txBody>
          <a:bodyPr wrap="square" rtlCol="0" anchor="ctr"/>
          <a:lstStyle/>
          <a:p>
            <a:pPr indent="0" marL="0">
              <a:buNone/>
            </a:pPr>
            <a:r>
              <a:rPr lang="en-US" sz="1000" i="1" dirty="0">
                <a:solidFill>
                  <a:srgbClr val="A8A29E"/>
                </a:solidFill>
                <a:latin typeface="Arial" pitchFamily="34" charset="0"/>
                <a:ea typeface="Arial" pitchFamily="34" charset="-122"/>
                <a:cs typeface="Arial" pitchFamily="34" charset="-120"/>
              </a:rPr>
              <a:t>Ghi chú sư phạm: Dùng sơ đồ để học sinh thấy được quy luật vận động nội tâm của thi nhân Quang Dũng.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71413"/>
        </a:solidFill>
      </p:bgPr>
    </p:bg>
    <p:spTree>
      <p:nvGrpSpPr>
        <p:cNvPr id="1" name=""/>
        <p:cNvGrpSpPr/>
        <p:nvPr/>
      </p:nvGrpSpPr>
      <p:grpSpPr>
        <a:xfrm>
          <a:off x="0" y="0"/>
          <a:ext cx="0" cy="0"/>
          <a:chOff x="0" y="0"/>
          <a:chExt cx="0" cy="0"/>
        </a:xfrm>
      </p:grpSpPr>
      <p:sp>
        <p:nvSpPr>
          <p:cNvPr id="2" name="Text 0"/>
          <p:cNvSpPr/>
          <p:nvPr/>
        </p:nvSpPr>
        <p:spPr>
          <a:xfrm>
            <a:off x="731520" y="365760"/>
            <a:ext cx="914400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LUYỆN TẬP</a:t>
            </a:r>
            <a:pPr indent="0" marL="0">
              <a:buNone/>
            </a:pPr>
            <a:r>
              <a:rPr lang="en-US" sz="1000" dirty="0">
                <a:solidFill>
                  <a:srgbClr val="A8A29E"/>
                </a:solidFill>
                <a:latin typeface="Arial" pitchFamily="34" charset="0"/>
                <a:ea typeface="Arial" pitchFamily="34" charset="-122"/>
                <a:cs typeface="Arial" pitchFamily="34" charset="-120"/>
              </a:rPr>
              <a:t>  |  Slide 6/7</a:t>
            </a:r>
            <a:endParaRPr lang="en-US" sz="1000" dirty="0"/>
          </a:p>
        </p:txBody>
      </p:sp>
      <p:sp>
        <p:nvSpPr>
          <p:cNvPr id="3" name="Text 1"/>
          <p:cNvSpPr/>
          <p:nvPr/>
        </p:nvSpPr>
        <p:spPr>
          <a:xfrm>
            <a:off x="731520" y="731520"/>
            <a:ext cx="10698480" cy="822960"/>
          </a:xfrm>
          <a:prstGeom prst="rect">
            <a:avLst/>
          </a:prstGeom>
          <a:noFill/>
          <a:ln/>
        </p:spPr>
        <p:txBody>
          <a:bodyPr wrap="square" rtlCol="0" anchor="ctr"/>
          <a:lstStyle/>
          <a:p>
            <a:pPr algn="l" indent="0" marL="0">
              <a:buNone/>
            </a:pPr>
            <a:r>
              <a:rPr lang="en-US" sz="2400" b="1" dirty="0">
                <a:solidFill>
                  <a:srgbClr val="FAF8F5"/>
                </a:solidFill>
                <a:latin typeface="Georgia" pitchFamily="34" charset="0"/>
                <a:ea typeface="Georgia" pitchFamily="34" charset="-122"/>
                <a:cs typeface="Georgia" pitchFamily="34" charset="-120"/>
              </a:rPr>
              <a:t>CÂU HỎI TƯƠNG TÁC: ĐỌC HIỂU TÂY TIẾN</a:t>
            </a:r>
            <a:endParaRPr lang="en-US" sz="2400" dirty="0"/>
          </a:p>
        </p:txBody>
      </p:sp>
      <p:sp>
        <p:nvSpPr>
          <p:cNvPr id="4" name="Shape 2"/>
          <p:cNvSpPr/>
          <p:nvPr/>
        </p:nvSpPr>
        <p:spPr>
          <a:xfrm>
            <a:off x="914400" y="1737360"/>
            <a:ext cx="10332720" cy="4023360"/>
          </a:xfrm>
          <a:prstGeom prst="roundRect">
            <a:avLst>
              <a:gd name="adj" fmla="val 4545"/>
            </a:avLst>
          </a:prstGeom>
          <a:solidFill>
            <a:srgbClr val="272221"/>
          </a:solidFill>
          <a:ln w="19050">
            <a:solidFill>
              <a:srgbClr val="F59E0B"/>
            </a:solidFill>
            <a:prstDash val="solid"/>
          </a:ln>
        </p:spPr>
      </p:sp>
      <p:sp>
        <p:nvSpPr>
          <p:cNvPr id="5" name="Text 3"/>
          <p:cNvSpPr/>
          <p:nvPr/>
        </p:nvSpPr>
        <p:spPr>
          <a:xfrm>
            <a:off x="1188720" y="1920240"/>
            <a:ext cx="9784080" cy="1097280"/>
          </a:xfrm>
          <a:prstGeom prst="rect">
            <a:avLst/>
          </a:prstGeom>
          <a:noFill/>
          <a:ln/>
        </p:spPr>
        <p:txBody>
          <a:bodyPr wrap="square" rtlCol="0" anchor="ctr"/>
          <a:lstStyle/>
          <a:p>
            <a:pPr indent="0" marL="0">
              <a:buNone/>
            </a:pPr>
            <a:r>
              <a:rPr lang="en-US" sz="1600" b="1" dirty="0">
                <a:solidFill>
                  <a:srgbClr val="FAF8F5"/>
                </a:solidFill>
                <a:latin typeface="Georgia" pitchFamily="34" charset="0"/>
                <a:ea typeface="Georgia" pitchFamily="34" charset="-122"/>
                <a:cs typeface="Georgia" pitchFamily="34" charset="-120"/>
              </a:rPr>
              <a:t>Cụm từ "áo bào thay chiếu" trong câu thơ "Áo bào thay chiếu anh về đất" sử dụng biện pháp nghệ thuật gì và có tác dụng như thế nào?</a:t>
            </a:r>
            <a:endParaRPr lang="en-US" sz="1600" dirty="0"/>
          </a:p>
        </p:txBody>
      </p:sp>
      <p:sp>
        <p:nvSpPr>
          <p:cNvPr id="6" name="Shape 4"/>
          <p:cNvSpPr/>
          <p:nvPr/>
        </p:nvSpPr>
        <p:spPr>
          <a:xfrm>
            <a:off x="1188720" y="3200400"/>
            <a:ext cx="4663440" cy="868680"/>
          </a:xfrm>
          <a:prstGeom prst="roundRect">
            <a:avLst>
              <a:gd name="adj" fmla="val 10526"/>
            </a:avLst>
          </a:prstGeom>
          <a:solidFill>
            <a:srgbClr val="064E3B"/>
          </a:solidFill>
          <a:ln w="12700">
            <a:solidFill>
              <a:srgbClr val="10B981"/>
            </a:solidFill>
            <a:prstDash val="solid"/>
          </a:ln>
        </p:spPr>
      </p:sp>
      <p:sp>
        <p:nvSpPr>
          <p:cNvPr id="7" name="Text 5"/>
          <p:cNvSpPr/>
          <p:nvPr/>
        </p:nvSpPr>
        <p:spPr>
          <a:xfrm>
            <a:off x="1371600" y="3291840"/>
            <a:ext cx="4297680" cy="685800"/>
          </a:xfrm>
          <a:prstGeom prst="rect">
            <a:avLst/>
          </a:prstGeom>
          <a:noFill/>
          <a:ln/>
        </p:spPr>
        <p:txBody>
          <a:bodyPr wrap="square" rtlCol="0" anchor="ctr"/>
          <a:lstStyle/>
          <a:p>
            <a:pPr indent="0" marL="0">
              <a:buNone/>
            </a:pPr>
            <a:r>
              <a:rPr lang="en-US" sz="1200" dirty="0">
                <a:solidFill>
                  <a:srgbClr val="A7F3D0"/>
                </a:solidFill>
                <a:latin typeface="Arial" pitchFamily="34" charset="0"/>
                <a:ea typeface="Arial" pitchFamily="34" charset="-122"/>
                <a:cs typeface="Arial" pitchFamily="34" charset="-120"/>
              </a:rPr>
              <a:t>A. Sử dụng từ Hán Việt + nói giảm nói tránh để trang trọng hóa cái chết, làm vơi đi nỗi bi thương</a:t>
            </a:r>
            <a:endParaRPr lang="en-US" sz="1200" dirty="0"/>
          </a:p>
        </p:txBody>
      </p:sp>
      <p:sp>
        <p:nvSpPr>
          <p:cNvPr id="8" name="Shape 6"/>
          <p:cNvSpPr/>
          <p:nvPr/>
        </p:nvSpPr>
        <p:spPr>
          <a:xfrm>
            <a:off x="6309360" y="3200400"/>
            <a:ext cx="4663440" cy="868680"/>
          </a:xfrm>
          <a:prstGeom prst="roundRect">
            <a:avLst>
              <a:gd name="adj" fmla="val 10526"/>
            </a:avLst>
          </a:prstGeom>
          <a:solidFill>
            <a:srgbClr val="1C1917"/>
          </a:solidFill>
          <a:ln w="12700">
            <a:solidFill>
              <a:srgbClr val="44403C"/>
            </a:solidFill>
            <a:prstDash val="solid"/>
          </a:ln>
        </p:spPr>
      </p:sp>
      <p:sp>
        <p:nvSpPr>
          <p:cNvPr id="9" name="Text 7"/>
          <p:cNvSpPr/>
          <p:nvPr/>
        </p:nvSpPr>
        <p:spPr>
          <a:xfrm>
            <a:off x="6492240" y="3291840"/>
            <a:ext cx="4297680" cy="685800"/>
          </a:xfrm>
          <a:prstGeom prst="rect">
            <a:avLst/>
          </a:prstGeom>
          <a:noFill/>
          <a:ln/>
        </p:spPr>
        <p:txBody>
          <a:bodyPr wrap="square" rtlCol="0" anchor="ctr"/>
          <a:lstStyle/>
          <a:p>
            <a:pPr indent="0" marL="0">
              <a:buNone/>
            </a:pPr>
            <a:r>
              <a:rPr lang="en-US" sz="1200" dirty="0">
                <a:solidFill>
                  <a:srgbClr val="E7E5E4"/>
                </a:solidFill>
                <a:latin typeface="Arial" pitchFamily="34" charset="0"/>
                <a:ea typeface="Arial" pitchFamily="34" charset="-122"/>
                <a:cs typeface="Arial" pitchFamily="34" charset="-120"/>
              </a:rPr>
              <a:t>B. Sử dụng ẩn dụ so sánh nhằm miêu tả bộ quân phục sang trọng đắt tiền của người lính Hà Nội</a:t>
            </a:r>
            <a:endParaRPr lang="en-US" sz="1200" dirty="0"/>
          </a:p>
        </p:txBody>
      </p:sp>
      <p:sp>
        <p:nvSpPr>
          <p:cNvPr id="10" name="Shape 8"/>
          <p:cNvSpPr/>
          <p:nvPr/>
        </p:nvSpPr>
        <p:spPr>
          <a:xfrm>
            <a:off x="1188720" y="4297680"/>
            <a:ext cx="4663440" cy="868680"/>
          </a:xfrm>
          <a:prstGeom prst="roundRect">
            <a:avLst>
              <a:gd name="adj" fmla="val 10526"/>
            </a:avLst>
          </a:prstGeom>
          <a:solidFill>
            <a:srgbClr val="1C1917"/>
          </a:solidFill>
          <a:ln w="12700">
            <a:solidFill>
              <a:srgbClr val="44403C"/>
            </a:solidFill>
            <a:prstDash val="solid"/>
          </a:ln>
        </p:spPr>
      </p:sp>
      <p:sp>
        <p:nvSpPr>
          <p:cNvPr id="11" name="Text 9"/>
          <p:cNvSpPr/>
          <p:nvPr/>
        </p:nvSpPr>
        <p:spPr>
          <a:xfrm>
            <a:off x="1371600" y="4389120"/>
            <a:ext cx="4297680" cy="685800"/>
          </a:xfrm>
          <a:prstGeom prst="rect">
            <a:avLst/>
          </a:prstGeom>
          <a:noFill/>
          <a:ln/>
        </p:spPr>
        <p:txBody>
          <a:bodyPr wrap="square" rtlCol="0" anchor="ctr"/>
          <a:lstStyle/>
          <a:p>
            <a:pPr indent="0" marL="0">
              <a:buNone/>
            </a:pPr>
            <a:r>
              <a:rPr lang="en-US" sz="1200" dirty="0">
                <a:solidFill>
                  <a:srgbClr val="E7E5E4"/>
                </a:solidFill>
                <a:latin typeface="Arial" pitchFamily="34" charset="0"/>
                <a:ea typeface="Arial" pitchFamily="34" charset="-122"/>
                <a:cs typeface="Arial" pitchFamily="34" charset="-120"/>
              </a:rPr>
              <a:t>C. Sử dụng hoán dụ để khẳng định người lính Tây Tiến xuất thân từ tầng lớp quý tộc hoàng gia</a:t>
            </a:r>
            <a:endParaRPr lang="en-US" sz="1200" dirty="0"/>
          </a:p>
        </p:txBody>
      </p:sp>
      <p:sp>
        <p:nvSpPr>
          <p:cNvPr id="12" name="Shape 10"/>
          <p:cNvSpPr/>
          <p:nvPr/>
        </p:nvSpPr>
        <p:spPr>
          <a:xfrm>
            <a:off x="6309360" y="4297680"/>
            <a:ext cx="4663440" cy="868680"/>
          </a:xfrm>
          <a:prstGeom prst="roundRect">
            <a:avLst>
              <a:gd name="adj" fmla="val 10526"/>
            </a:avLst>
          </a:prstGeom>
          <a:solidFill>
            <a:srgbClr val="1C1917"/>
          </a:solidFill>
          <a:ln w="12700">
            <a:solidFill>
              <a:srgbClr val="44403C"/>
            </a:solidFill>
            <a:prstDash val="solid"/>
          </a:ln>
        </p:spPr>
      </p:sp>
      <p:sp>
        <p:nvSpPr>
          <p:cNvPr id="13" name="Text 11"/>
          <p:cNvSpPr/>
          <p:nvPr/>
        </p:nvSpPr>
        <p:spPr>
          <a:xfrm>
            <a:off x="6492240" y="4389120"/>
            <a:ext cx="4297680" cy="685800"/>
          </a:xfrm>
          <a:prstGeom prst="rect">
            <a:avLst/>
          </a:prstGeom>
          <a:noFill/>
          <a:ln/>
        </p:spPr>
        <p:txBody>
          <a:bodyPr wrap="square" rtlCol="0" anchor="ctr"/>
          <a:lstStyle/>
          <a:p>
            <a:pPr indent="0" marL="0">
              <a:buNone/>
            </a:pPr>
            <a:r>
              <a:rPr lang="en-US" sz="1200" dirty="0">
                <a:solidFill>
                  <a:srgbClr val="E7E5E4"/>
                </a:solidFill>
                <a:latin typeface="Arial" pitchFamily="34" charset="0"/>
                <a:ea typeface="Arial" pitchFamily="34" charset="-122"/>
                <a:cs typeface="Arial" pitchFamily="34" charset="-120"/>
              </a:rPr>
              <a:t>D. Sử dụng ngoa dụ phóng đại nhằm nhấn mạnh hoàn cảnh thiếu thốn không có thuốc men</a:t>
            </a:r>
            <a:endParaRPr lang="en-US" sz="1200" dirty="0"/>
          </a:p>
        </p:txBody>
      </p:sp>
      <p:sp>
        <p:nvSpPr>
          <p:cNvPr id="15" name="Text 12"/>
          <p:cNvSpPr/>
          <p:nvPr/>
        </p:nvSpPr>
        <p:spPr>
          <a:xfrm>
            <a:off x="731520" y="6126480"/>
            <a:ext cx="10698480" cy="365760"/>
          </a:xfrm>
          <a:prstGeom prst="rect">
            <a:avLst/>
          </a:prstGeom>
          <a:noFill/>
          <a:ln/>
        </p:spPr>
        <p:txBody>
          <a:bodyPr wrap="square" rtlCol="0" anchor="ctr"/>
          <a:lstStyle/>
          <a:p>
            <a:pPr indent="0" marL="0">
              <a:buNone/>
            </a:pPr>
            <a:r>
              <a:rPr lang="en-US" sz="1000" i="1" dirty="0">
                <a:solidFill>
                  <a:srgbClr val="A8A29E"/>
                </a:solidFill>
                <a:latin typeface="Arial" pitchFamily="34" charset="0"/>
                <a:ea typeface="Arial" pitchFamily="34" charset="-122"/>
                <a:cs typeface="Arial" pitchFamily="34" charset="-120"/>
              </a:rPr>
              <a:t>Ghi chú sư phạm: Cho học sinh 60 giây suy ngẫm và giơ tay chọn đáp án A, B, C, D trước khi giải thích.</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1413"/>
        </a:solidFill>
      </p:bgPr>
    </p:bg>
    <p:spTree>
      <p:nvGrpSpPr>
        <p:cNvPr id="1" name=""/>
        <p:cNvGrpSpPr/>
        <p:nvPr/>
      </p:nvGrpSpPr>
      <p:grpSpPr>
        <a:xfrm>
          <a:off x="0" y="0"/>
          <a:ext cx="0" cy="0"/>
          <a:chOff x="0" y="0"/>
          <a:chExt cx="0" cy="0"/>
        </a:xfrm>
      </p:grpSpPr>
      <p:sp>
        <p:nvSpPr>
          <p:cNvPr id="2" name="Text 0"/>
          <p:cNvSpPr/>
          <p:nvPr/>
        </p:nvSpPr>
        <p:spPr>
          <a:xfrm>
            <a:off x="731520" y="365760"/>
            <a:ext cx="9144000" cy="32004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TỔNG KẾT</a:t>
            </a:r>
            <a:pPr indent="0" marL="0">
              <a:buNone/>
            </a:pPr>
            <a:r>
              <a:rPr lang="en-US" sz="1000" dirty="0">
                <a:solidFill>
                  <a:srgbClr val="A8A29E"/>
                </a:solidFill>
                <a:latin typeface="Arial" pitchFamily="34" charset="0"/>
                <a:ea typeface="Arial" pitchFamily="34" charset="-122"/>
                <a:cs typeface="Arial" pitchFamily="34" charset="-120"/>
              </a:rPr>
              <a:t>  |  Slide 7/7</a:t>
            </a:r>
            <a:endParaRPr lang="en-US" sz="1000" dirty="0"/>
          </a:p>
        </p:txBody>
      </p:sp>
      <p:sp>
        <p:nvSpPr>
          <p:cNvPr id="3" name="Text 1"/>
          <p:cNvSpPr/>
          <p:nvPr/>
        </p:nvSpPr>
        <p:spPr>
          <a:xfrm>
            <a:off x="731520" y="731520"/>
            <a:ext cx="10698480" cy="822960"/>
          </a:xfrm>
          <a:prstGeom prst="rect">
            <a:avLst/>
          </a:prstGeom>
          <a:noFill/>
          <a:ln/>
        </p:spPr>
        <p:txBody>
          <a:bodyPr wrap="square" rtlCol="0" anchor="ctr"/>
          <a:lstStyle/>
          <a:p>
            <a:pPr algn="l" indent="0" marL="0">
              <a:buNone/>
            </a:pPr>
            <a:r>
              <a:rPr lang="en-US" sz="2400" b="1" dirty="0">
                <a:solidFill>
                  <a:srgbClr val="FAF8F5"/>
                </a:solidFill>
                <a:latin typeface="Georgia" pitchFamily="34" charset="0"/>
                <a:ea typeface="Georgia" pitchFamily="34" charset="-122"/>
                <a:cs typeface="Georgia" pitchFamily="34" charset="-120"/>
              </a:rPr>
              <a:t>TỔNG KẾT BÀI HỌC &amp; CHIÊM NGHIỆM</a:t>
            </a:r>
            <a:endParaRPr lang="en-US" sz="2400" dirty="0"/>
          </a:p>
        </p:txBody>
      </p:sp>
      <p:sp>
        <p:nvSpPr>
          <p:cNvPr id="4" name="Shape 2"/>
          <p:cNvSpPr/>
          <p:nvPr/>
        </p:nvSpPr>
        <p:spPr>
          <a:xfrm>
            <a:off x="1097280" y="1737360"/>
            <a:ext cx="9966960" cy="3931920"/>
          </a:xfrm>
          <a:prstGeom prst="roundRect">
            <a:avLst>
              <a:gd name="adj" fmla="val 4651"/>
            </a:avLst>
          </a:prstGeom>
          <a:solidFill>
            <a:srgbClr val="272221"/>
          </a:solidFill>
          <a:ln w="12700">
            <a:solidFill>
              <a:srgbClr val="44403C"/>
            </a:solidFill>
            <a:prstDash val="solid"/>
          </a:ln>
        </p:spPr>
      </p:sp>
      <p:sp>
        <p:nvSpPr>
          <p:cNvPr id="5" name="Text 3"/>
          <p:cNvSpPr/>
          <p:nvPr/>
        </p:nvSpPr>
        <p:spPr>
          <a:xfrm>
            <a:off x="1463040" y="2011680"/>
            <a:ext cx="9235440" cy="1280160"/>
          </a:xfrm>
          <a:prstGeom prst="rect">
            <a:avLst/>
          </a:prstGeom>
          <a:noFill/>
          <a:ln/>
        </p:spPr>
        <p:txBody>
          <a:bodyPr wrap="square" rtlCol="0" anchor="ctr"/>
          <a:lstStyle/>
          <a:p>
            <a:pPr algn="l" indent="0" marL="0">
              <a:buNone/>
            </a:pPr>
            <a:r>
              <a:rPr lang="en-US" sz="1700" dirty="0">
                <a:solidFill>
                  <a:srgbClr val="E7E5E4"/>
                </a:solidFill>
                <a:latin typeface="Arial" pitchFamily="34" charset="0"/>
                <a:ea typeface="Arial" pitchFamily="34" charset="-122"/>
                <a:cs typeface="Arial" pitchFamily="34" charset="-120"/>
              </a:rPr>
              <a:t>Những giá trị bất biến từ thi phẩm Tây Tiến cần khắc sâu:</a:t>
            </a:r>
            <a:endParaRPr lang="en-US" sz="1700" dirty="0"/>
          </a:p>
        </p:txBody>
      </p:sp>
      <p:sp>
        <p:nvSpPr>
          <p:cNvPr id="6" name="Text 4"/>
          <p:cNvSpPr/>
          <p:nvPr/>
        </p:nvSpPr>
        <p:spPr>
          <a:xfrm>
            <a:off x="1463040" y="3383280"/>
            <a:ext cx="9235440" cy="2011680"/>
          </a:xfrm>
          <a:prstGeom prst="rect">
            <a:avLst/>
          </a:prstGeom>
          <a:noFill/>
          <a:ln/>
        </p:spPr>
        <p:txBody>
          <a:bodyPr wrap="square" rtlCol="0" anchor="ctr"/>
          <a:lstStyle/>
          <a:p>
            <a:pPr algn="l" marL="203200" indent="-203200">
              <a:buSzPct val="100000"/>
              <a:buChar char="•"/>
            </a:pPr>
            <a:r>
              <a:rPr lang="en-US" sz="1400" dirty="0">
                <a:solidFill>
                  <a:srgbClr val="E7E5E4"/>
                </a:solidFill>
                <a:latin typeface="Arial" pitchFamily="34" charset="0"/>
                <a:ea typeface="Arial" pitchFamily="34" charset="-122"/>
                <a:cs typeface="Arial" pitchFamily="34" charset="-120"/>
              </a:rPr>
              <a:t>Giá trị tư tưởng: Khúc tráng ca ngợi ca lòng yêu nước và sự hi sinh kiên cường của thế hệ thanh niên kháng chiến</a:t>
            </a:r>
            <a:endParaRPr lang="en-US" sz="1400" dirty="0"/>
          </a:p>
          <a:p>
            <a:pPr algn="l" marL="203200" indent="-203200">
              <a:buSzPct val="100000"/>
              <a:buChar char="•"/>
            </a:pPr>
            <a:r>
              <a:rPr lang="en-US" sz="1400" dirty="0">
                <a:solidFill>
                  <a:srgbClr val="E7E5E4"/>
                </a:solidFill>
                <a:latin typeface="Arial" pitchFamily="34" charset="0"/>
                <a:ea typeface="Arial" pitchFamily="34" charset="-122"/>
                <a:cs typeface="Arial" pitchFamily="34" charset="-120"/>
              </a:rPr>
              <a:t>Giá trị nghệ thuật: Bút pháp lãng mạn hòa quyện chất bi tráng, ngôn ngữ tạo hình giàu nhạc điệu</a:t>
            </a:r>
            <a:endParaRPr lang="en-US" sz="1400" dirty="0"/>
          </a:p>
          <a:p>
            <a:pPr algn="l" marL="203200" indent="-203200">
              <a:buSzPct val="100000"/>
              <a:buChar char="•"/>
            </a:pPr>
            <a:r>
              <a:rPr lang="en-US" sz="1400" dirty="0">
                <a:solidFill>
                  <a:srgbClr val="E7E5E4"/>
                </a:solidFill>
                <a:latin typeface="Arial" pitchFamily="34" charset="0"/>
                <a:ea typeface="Arial" pitchFamily="34" charset="-122"/>
                <a:cs typeface="Arial" pitchFamily="34" charset="-120"/>
              </a:rPr>
              <a:t>Bài học cuộc sống: Sống có lý tưởng, biết cống hiến tuổi xuân vì những giá trị cao đẹp của cộng đồng</a:t>
            </a:r>
            <a:endParaRPr lang="en-US" sz="1400" dirty="0"/>
          </a:p>
          <a:p>
            <a:pPr algn="l" marL="203200" indent="-203200">
              <a:buSzPct val="100000"/>
              <a:buChar char="•"/>
            </a:pPr>
            <a:r>
              <a:rPr lang="en-US" sz="1400" dirty="0">
                <a:solidFill>
                  <a:srgbClr val="E7E5E4"/>
                </a:solidFill>
                <a:latin typeface="Arial" pitchFamily="34" charset="0"/>
                <a:ea typeface="Arial" pitchFamily="34" charset="-122"/>
                <a:cs typeface="Arial" pitchFamily="34" charset="-120"/>
              </a:rPr>
              <a:t>Nhiệm vụ về nhà: Học thuộc lòng bài thơ và viết đoạn văn nghị luận 200 chữ về lý tưởng thanh niên</a:t>
            </a:r>
            <a:endParaRPr lang="en-US" sz="1400" dirty="0"/>
          </a:p>
        </p:txBody>
      </p:sp>
      <p:sp>
        <p:nvSpPr>
          <p:cNvPr id="8" name="Text 5"/>
          <p:cNvSpPr/>
          <p:nvPr/>
        </p:nvSpPr>
        <p:spPr>
          <a:xfrm>
            <a:off x="731520" y="6126480"/>
            <a:ext cx="10698480" cy="365760"/>
          </a:xfrm>
          <a:prstGeom prst="rect">
            <a:avLst/>
          </a:prstGeom>
          <a:noFill/>
          <a:ln/>
        </p:spPr>
        <p:txBody>
          <a:bodyPr wrap="square" rtlCol="0" anchor="ctr"/>
          <a:lstStyle/>
          <a:p>
            <a:pPr indent="0" marL="0">
              <a:buNone/>
            </a:pPr>
            <a:r>
              <a:rPr lang="en-US" sz="1000" i="1" dirty="0">
                <a:solidFill>
                  <a:srgbClr val="A8A29E"/>
                </a:solidFill>
                <a:latin typeface="Arial" pitchFamily="34" charset="0"/>
                <a:ea typeface="Arial" pitchFamily="34" charset="-122"/>
                <a:cs typeface="Arial" pitchFamily="34" charset="-120"/>
              </a:rPr>
              <a:t>Ghi chú sư phạm: Dành 2 phút dặn dò, giao bài tập về nhà và tuyên dương tinh thần học tập tích cực của cả lớp.</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EduMaster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TÂY TIẾN (QUANG DŨNG)</dc:title>
  <dc:subject>PptxGenJS Presentation</dc:subject>
  <dc:creator>EduMaster Văn</dc:creator>
  <cp:lastModifiedBy>EduMaster Văn</cp:lastModifiedBy>
  <cp:revision>1</cp:revision>
  <dcterms:created xsi:type="dcterms:W3CDTF">2026-10-11T07:31:04Z</dcterms:created>
  <dcterms:modified xsi:type="dcterms:W3CDTF">2026-10-11T07:31:04Z</dcterms:modified>
</cp:coreProperties>
</file>